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ter Light" panose="020B0604020202020204" charset="0"/>
      <p:regular r:id="rId13"/>
    </p:embeddedFont>
    <p:embeddedFont>
      <p:font typeface="Montserrat Medium" panose="020F0502020204030204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8248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2.png"/><Relationship Id="rId11" Type="http://schemas.openxmlformats.org/officeDocument/2006/relationships/image" Target="../media/image37.svg"/><Relationship Id="rId5" Type="http://schemas.openxmlformats.org/officeDocument/2006/relationships/image" Target="../media/image31.sv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5860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Uber Ride Booking Dashboard – NCR Region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666887"/>
            <a:ext cx="7556421" cy="1700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Data-Driven Insights from Customer, Driver, and Booking Behavior Analysis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570797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75998" y="1405176"/>
            <a:ext cx="7964805" cy="84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Project Overview: Unveiling Uber's NCR Dynamics</a:t>
            </a:r>
            <a:endParaRPr lang="en-US" sz="2650" dirty="0"/>
          </a:p>
        </p:txBody>
      </p:sp>
      <p:sp>
        <p:nvSpPr>
          <p:cNvPr id="4" name="Shape 1"/>
          <p:cNvSpPr/>
          <p:nvPr/>
        </p:nvSpPr>
        <p:spPr>
          <a:xfrm>
            <a:off x="6075998" y="2500074"/>
            <a:ext cx="3898106" cy="1825228"/>
          </a:xfrm>
          <a:prstGeom prst="roundRect">
            <a:avLst>
              <a:gd name="adj" fmla="val 6012"/>
            </a:avLst>
          </a:prstGeom>
          <a:solidFill>
            <a:srgbClr val="FFFFFF"/>
          </a:solidFill>
          <a:ln w="22860">
            <a:solidFill>
              <a:srgbClr val="C5C7D2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137" y="2500074"/>
            <a:ext cx="91440" cy="18252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35911" y="2691408"/>
            <a:ext cx="2105978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Regional Focus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6335911" y="3055739"/>
            <a:ext cx="3446859" cy="808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Analyzed extensive Uber ride booking data specifically for the National Capital Region (NCR) to uncover localized trends.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10142577" y="2500074"/>
            <a:ext cx="3898225" cy="1825228"/>
          </a:xfrm>
          <a:prstGeom prst="roundRect">
            <a:avLst>
              <a:gd name="adj" fmla="val 6012"/>
            </a:avLst>
          </a:prstGeom>
          <a:solidFill>
            <a:srgbClr val="FFFFFF"/>
          </a:solidFill>
          <a:ln w="22860">
            <a:solidFill>
              <a:srgbClr val="C5C7D2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9717" y="2500074"/>
            <a:ext cx="91440" cy="18252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402491" y="2691408"/>
            <a:ext cx="2105978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Tooling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10402491" y="3055739"/>
            <a:ext cx="3446978" cy="1078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Dashboard developed and visualized using the robust capabilities of </a:t>
            </a:r>
            <a:r>
              <a:rPr lang="en-US" sz="13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Microsoft Power BI</a:t>
            </a: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, ensuring interactive and dynamic insights.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6075998" y="4493776"/>
            <a:ext cx="3898106" cy="2330529"/>
          </a:xfrm>
          <a:prstGeom prst="roundRect">
            <a:avLst>
              <a:gd name="adj" fmla="val 4708"/>
            </a:avLst>
          </a:prstGeom>
          <a:solidFill>
            <a:srgbClr val="FFFFFF"/>
          </a:solidFill>
          <a:ln w="22860">
            <a:solidFill>
              <a:srgbClr val="C5C7D2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3137" y="4493776"/>
            <a:ext cx="91440" cy="233052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35911" y="4685109"/>
            <a:ext cx="2118122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Core Analysis Pillars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6335911" y="5049441"/>
            <a:ext cx="3446859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Booking Trends &amp; Patterns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6335911" y="5377934"/>
            <a:ext cx="3446859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Revenue &amp; Distance Metrics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335911" y="5706427"/>
            <a:ext cx="3446859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Customer Behavior Profiling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335911" y="6034921"/>
            <a:ext cx="3446859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Driver Performance Evaluation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335911" y="6363414"/>
            <a:ext cx="3446859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In-depth Cancellation Analysis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7310" y="670441"/>
            <a:ext cx="7981712" cy="47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Overall Business Performance at a Glance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1337310" y="1615321"/>
            <a:ext cx="2811661" cy="62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49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150K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1561743" y="2475190"/>
            <a:ext cx="236267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Total Bookings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1337310" y="2883813"/>
            <a:ext cx="281166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 substantial volume indicating high demand and market penetration in the NCR region.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385191" y="1615321"/>
            <a:ext cx="2811780" cy="62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49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72M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4609743" y="2475190"/>
            <a:ext cx="236267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Total Revenue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385191" y="2883813"/>
            <a:ext cx="281178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Significant revenue generated, reflecting the economic impact and success of Uber's operations.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33191" y="1615321"/>
            <a:ext cx="2811780" cy="62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49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478.12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7657743" y="2475190"/>
            <a:ext cx="236267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Avg. Booking Value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7433191" y="2883813"/>
            <a:ext cx="281178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Average value per booking, showcasing consistent customer spending patterns.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481191" y="1615321"/>
            <a:ext cx="2811780" cy="62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49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3.65M</a:t>
            </a:r>
            <a:endParaRPr lang="en-US" sz="4900" dirty="0"/>
          </a:p>
        </p:txBody>
      </p:sp>
      <p:sp>
        <p:nvSpPr>
          <p:cNvPr id="13" name="Text 11"/>
          <p:cNvSpPr/>
          <p:nvPr/>
        </p:nvSpPr>
        <p:spPr>
          <a:xfrm>
            <a:off x="10705743" y="2475190"/>
            <a:ext cx="236267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Total Ride Distance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10481191" y="2883813"/>
            <a:ext cx="281178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Cumulative distance covered, highlighting the extensive reach and operational scale.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909191" y="4565928"/>
            <a:ext cx="2811780" cy="62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49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9K</a:t>
            </a:r>
            <a:endParaRPr lang="en-US" sz="4900" dirty="0"/>
          </a:p>
        </p:txBody>
      </p:sp>
      <p:sp>
        <p:nvSpPr>
          <p:cNvPr id="16" name="Text 14"/>
          <p:cNvSpPr/>
          <p:nvPr/>
        </p:nvSpPr>
        <p:spPr>
          <a:xfrm>
            <a:off x="6133743" y="5425797"/>
            <a:ext cx="236267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Incomplete Rides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5909191" y="5834420"/>
            <a:ext cx="281178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 relatively low number, suggesting efficient dispatch and service delivery.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37310" y="6954322"/>
            <a:ext cx="1195566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Insight:</a:t>
            </a: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High booking volume paired with robust revenue generation and a minimal rate of incomplete rides underscores a strong operational foundation.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89365" y="414457"/>
            <a:ext cx="407134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Booking Trends &amp; Status Analysis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9365" y="1034415"/>
            <a:ext cx="4472821" cy="44728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89365" y="5643324"/>
            <a:ext cx="1978700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Monthly Booking Stability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3489365" y="5953244"/>
            <a:ext cx="4472821" cy="386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Analysis of monthly booking trends reveals a generally stable demand across the year, suggesting consistent user engagement.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3212" y="1034415"/>
            <a:ext cx="2306836" cy="23068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808720" y="2074664"/>
            <a:ext cx="18097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8264843" y="3522702"/>
            <a:ext cx="241935" cy="241935"/>
          </a:xfrm>
          <a:prstGeom prst="roundRect">
            <a:avLst>
              <a:gd name="adj" fmla="val 45003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310205" y="3549194"/>
            <a:ext cx="151209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8627745" y="3549134"/>
            <a:ext cx="151209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Completed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8627745" y="3859054"/>
            <a:ext cx="2520672" cy="193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93K (62%)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8627745" y="4161353"/>
            <a:ext cx="2520672" cy="580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 majority of rides are successfully completed, indicating effective service execution.</a:t>
            </a:r>
            <a:endParaRPr lang="en-US" sz="9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3212" y="1034415"/>
            <a:ext cx="2306836" cy="23068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19824" y="1375410"/>
            <a:ext cx="18097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8264843" y="4923234"/>
            <a:ext cx="241935" cy="241935"/>
          </a:xfrm>
          <a:prstGeom prst="roundRect">
            <a:avLst>
              <a:gd name="adj" fmla="val 45003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310205" y="4949726"/>
            <a:ext cx="151209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8627745" y="4949666"/>
            <a:ext cx="151209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Cancelled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8627745" y="5259586"/>
            <a:ext cx="2520672" cy="193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37.5K (25%)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8627745" y="5561886"/>
            <a:ext cx="2520672" cy="386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 notable percentage, highlighting an area requiring focused intervention and strategy.</a:t>
            </a:r>
            <a:endParaRPr lang="en-US" sz="9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3212" y="1034415"/>
            <a:ext cx="2306836" cy="23068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019824" y="2773918"/>
            <a:ext cx="18097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8264843" y="6130290"/>
            <a:ext cx="241935" cy="241935"/>
          </a:xfrm>
          <a:prstGeom prst="roundRect">
            <a:avLst>
              <a:gd name="adj" fmla="val 45003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8310205" y="6156781"/>
            <a:ext cx="151209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3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8627745" y="6156722"/>
            <a:ext cx="151209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Incomplete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8627745" y="6466642"/>
            <a:ext cx="2520672" cy="193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19.5K (13%)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8627745" y="6768941"/>
            <a:ext cx="2520672" cy="386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While smaller, incomplete rides still impact user experience and operational efficiency.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3489365" y="7428071"/>
            <a:ext cx="7651552" cy="386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Insight:</a:t>
            </a:r>
            <a:r>
              <a:rPr lang="en-US" sz="9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While most rides are successfully completed, the significant volume of cancellations represents a critical area for operational improvement and customer retention strategies.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9268"/>
            <a:ext cx="822852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Preferred Payment Methods in NCR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1943219"/>
            <a:ext cx="3420428" cy="283488"/>
          </a:xfrm>
          <a:prstGeom prst="roundRect">
            <a:avLst>
              <a:gd name="adj" fmla="val 72012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943219"/>
            <a:ext cx="3215164" cy="283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384238" y="1943219"/>
            <a:ext cx="56816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94K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25100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UPI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3000494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Dominant choice, reflecting the widespread adoption of digital payments.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35893" y="1943219"/>
            <a:ext cx="3459480" cy="283488"/>
          </a:xfrm>
          <a:prstGeom prst="roundRect">
            <a:avLst>
              <a:gd name="adj" fmla="val 72012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1943219"/>
            <a:ext cx="864870" cy="283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865394" y="1943219"/>
            <a:ext cx="5291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25K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235893" y="25100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Cash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235893" y="300049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Still a significant payment option for a segment of users.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77995" y="1943219"/>
            <a:ext cx="3517344" cy="283488"/>
          </a:xfrm>
          <a:prstGeom prst="roundRect">
            <a:avLst>
              <a:gd name="adj" fmla="val 72012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1943219"/>
            <a:ext cx="422077" cy="2834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365361" y="1943219"/>
            <a:ext cx="47124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12K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9677995" y="25100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Uber Wallet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677995" y="300049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Growing preference for in-app payment solutions.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93790" y="4656177"/>
            <a:ext cx="3490912" cy="283488"/>
          </a:xfrm>
          <a:prstGeom prst="roundRect">
            <a:avLst>
              <a:gd name="adj" fmla="val 72012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4656177"/>
            <a:ext cx="349091" cy="2834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454723" y="4656177"/>
            <a:ext cx="49768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10K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793790" y="52230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Credit Card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93790" y="5713452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Consistent usage among card-holding customers.</a:t>
            </a:r>
            <a:endParaRPr lang="en-US" sz="1750" dirty="0"/>
          </a:p>
        </p:txBody>
      </p:sp>
      <p:sp>
        <p:nvSpPr>
          <p:cNvPr id="23" name="Shape 17"/>
          <p:cNvSpPr/>
          <p:nvPr/>
        </p:nvSpPr>
        <p:spPr>
          <a:xfrm>
            <a:off x="5235893" y="4656177"/>
            <a:ext cx="3602355" cy="283488"/>
          </a:xfrm>
          <a:prstGeom prst="roundRect">
            <a:avLst>
              <a:gd name="adj" fmla="val 72012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5893" y="4656177"/>
            <a:ext cx="288131" cy="28348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008269" y="4656177"/>
            <a:ext cx="38623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8K</a:t>
            </a:r>
            <a:endParaRPr lang="en-US" sz="2200" dirty="0"/>
          </a:p>
        </p:txBody>
      </p:sp>
      <p:sp>
        <p:nvSpPr>
          <p:cNvPr id="26" name="Text 19"/>
          <p:cNvSpPr/>
          <p:nvPr/>
        </p:nvSpPr>
        <p:spPr>
          <a:xfrm>
            <a:off x="5235893" y="52230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Debit Card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5235893" y="5713452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Another digital alternative for secure transactions.</a:t>
            </a:r>
            <a:endParaRPr lang="en-US" sz="1750" dirty="0"/>
          </a:p>
        </p:txBody>
      </p:sp>
      <p:sp>
        <p:nvSpPr>
          <p:cNvPr id="28" name="Text 21"/>
          <p:cNvSpPr/>
          <p:nvPr/>
        </p:nvSpPr>
        <p:spPr>
          <a:xfrm>
            <a:off x="793790" y="669440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Insight: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Digital payments overwhelmingly dominate the NCR region, with UPI emerging as the most preferred method, indicating a strong trend towards cashless transactions.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5389" y="531257"/>
            <a:ext cx="9342358" cy="482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Customer Dashboard: Key Engagement Metrics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205389" y="1400532"/>
            <a:ext cx="6013252" cy="2634853"/>
          </a:xfrm>
          <a:prstGeom prst="roundRect">
            <a:avLst>
              <a:gd name="adj" fmla="val 6599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128" y="1601272"/>
            <a:ext cx="579477" cy="57947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5434" y="1760577"/>
            <a:ext cx="260747" cy="26074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06128" y="2373868"/>
            <a:ext cx="2414945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Total Customers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1406128" y="2791539"/>
            <a:ext cx="5611773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148.788K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406128" y="3216473"/>
            <a:ext cx="5611773" cy="61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 vast user base demonstrating Uber's extensive reach in the NCR market.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7411760" y="1400532"/>
            <a:ext cx="6013252" cy="2634853"/>
          </a:xfrm>
          <a:prstGeom prst="roundRect">
            <a:avLst>
              <a:gd name="adj" fmla="val 6599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2499" y="1601272"/>
            <a:ext cx="579477" cy="579477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71805" y="1760577"/>
            <a:ext cx="260747" cy="26074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612499" y="2373868"/>
            <a:ext cx="2829044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Cust. Cancellation Rate</a:t>
            </a:r>
            <a:endParaRPr lang="en-US" sz="1900" dirty="0"/>
          </a:p>
        </p:txBody>
      </p:sp>
      <p:sp>
        <p:nvSpPr>
          <p:cNvPr id="13" name="Text 7"/>
          <p:cNvSpPr/>
          <p:nvPr/>
        </p:nvSpPr>
        <p:spPr>
          <a:xfrm>
            <a:off x="7612499" y="2791539"/>
            <a:ext cx="5611773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0.07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7612499" y="3216473"/>
            <a:ext cx="5611773" cy="61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 low rate, suggesting overall satisfaction with the booking process and service.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1205389" y="4228505"/>
            <a:ext cx="6013252" cy="2634853"/>
          </a:xfrm>
          <a:prstGeom prst="roundRect">
            <a:avLst>
              <a:gd name="adj" fmla="val 6599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06128" y="4429244"/>
            <a:ext cx="579477" cy="579477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65434" y="4588550"/>
            <a:ext cx="260747" cy="260747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406128" y="5201841"/>
            <a:ext cx="2673548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Avg. Customer Rating</a:t>
            </a:r>
            <a:endParaRPr lang="en-US" sz="1900" dirty="0"/>
          </a:p>
        </p:txBody>
      </p:sp>
      <p:sp>
        <p:nvSpPr>
          <p:cNvPr id="19" name="Text 11"/>
          <p:cNvSpPr/>
          <p:nvPr/>
        </p:nvSpPr>
        <p:spPr>
          <a:xfrm>
            <a:off x="1406128" y="5619512"/>
            <a:ext cx="5611773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4.24</a:t>
            </a:r>
            <a:endParaRPr lang="en-US" sz="1500" dirty="0"/>
          </a:p>
        </p:txBody>
      </p:sp>
      <p:sp>
        <p:nvSpPr>
          <p:cNvPr id="20" name="Text 12"/>
          <p:cNvSpPr/>
          <p:nvPr/>
        </p:nvSpPr>
        <p:spPr>
          <a:xfrm>
            <a:off x="1406128" y="6044446"/>
            <a:ext cx="5611773" cy="61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High average rating, reflecting positive experiences and service quality.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7411760" y="4228505"/>
            <a:ext cx="6013252" cy="2634853"/>
          </a:xfrm>
          <a:prstGeom prst="roundRect">
            <a:avLst>
              <a:gd name="adj" fmla="val 6599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12499" y="4429244"/>
            <a:ext cx="579477" cy="579477"/>
          </a:xfrm>
          <a:prstGeom prst="rect">
            <a:avLst/>
          </a:prstGeom>
        </p:spPr>
      </p:pic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71805" y="4588550"/>
            <a:ext cx="260747" cy="260747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612499" y="5201841"/>
            <a:ext cx="2414945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Avg. Booking Value</a:t>
            </a:r>
            <a:endParaRPr lang="en-US" sz="1900" dirty="0"/>
          </a:p>
        </p:txBody>
      </p:sp>
      <p:sp>
        <p:nvSpPr>
          <p:cNvPr id="25" name="Text 15"/>
          <p:cNvSpPr/>
          <p:nvPr/>
        </p:nvSpPr>
        <p:spPr>
          <a:xfrm>
            <a:off x="7612499" y="5619512"/>
            <a:ext cx="5611773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478.12</a:t>
            </a:r>
            <a:endParaRPr lang="en-US" sz="1500" dirty="0"/>
          </a:p>
        </p:txBody>
      </p:sp>
      <p:sp>
        <p:nvSpPr>
          <p:cNvPr id="26" name="Text 16"/>
          <p:cNvSpPr/>
          <p:nvPr/>
        </p:nvSpPr>
        <p:spPr>
          <a:xfrm>
            <a:off x="7612499" y="6044446"/>
            <a:ext cx="5611773" cy="61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Consistent average spend per customer, supporting revenue stability.</a:t>
            </a:r>
            <a:endParaRPr lang="en-US" sz="1500" dirty="0"/>
          </a:p>
        </p:txBody>
      </p:sp>
      <p:sp>
        <p:nvSpPr>
          <p:cNvPr id="27" name="Text 17"/>
          <p:cNvSpPr/>
          <p:nvPr/>
        </p:nvSpPr>
        <p:spPr>
          <a:xfrm>
            <a:off x="1205389" y="7080647"/>
            <a:ext cx="12219623" cy="61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Insight:</a:t>
            </a:r>
            <a:r>
              <a:rPr lang="en-US" sz="15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Customers exhibit high satisfaction, as evidenced by strong average ratings and a commendably low cancellation rate, pointing to a generally positive user experience.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45951" y="388620"/>
            <a:ext cx="7617738" cy="353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Customer Behavior: Diving Deeper into Cancellations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845951" y="1095018"/>
            <a:ext cx="1766411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Payment Type Split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845951" y="1457087"/>
            <a:ext cx="4296847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Digital: 124.63K (83.09%)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845951" y="1810345"/>
            <a:ext cx="4296847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Cash: 25.37K (16.91%)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845951" y="2163604"/>
            <a:ext cx="4296847" cy="452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Reinforces the preference for digital transactions among customers.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5951" y="2774752"/>
            <a:ext cx="4296847" cy="42968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5223" y="1095018"/>
            <a:ext cx="2286953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Top Cancellation Reasons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495223" y="1457087"/>
            <a:ext cx="4296847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Wrong Address</a:t>
            </a: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– 2.4K bookings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95223" y="1732598"/>
            <a:ext cx="4296847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Change of Plans</a:t>
            </a: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– 2.4K bookings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495223" y="2008108"/>
            <a:ext cx="4296847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Driver Not Moving</a:t>
            </a: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– 2.3K bookings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5223" y="2283619"/>
            <a:ext cx="4296847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Driver Asked to Cancel</a:t>
            </a: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– 2.3K bookings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95223" y="2559129"/>
            <a:ext cx="4296847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AC Not Working</a:t>
            </a: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– 1.2K bookings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495223" y="2912388"/>
            <a:ext cx="4296847" cy="452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These reasons highlight critical areas for improving the booking and ride experience.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845951" y="7389495"/>
            <a:ext cx="8938498" cy="452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Insight:</a:t>
            </a: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The data strongly suggests that both address accuracy during booking and driver conduct during the ride are direct and significant factors influencing ride cancellations.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1532"/>
            <a:ext cx="971109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Customer Satisfaction: Rating Distribution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743789" y="37079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Rating 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198382"/>
            <a:ext cx="3785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4K bookings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185213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0033" y="3975021"/>
            <a:ext cx="318968" cy="3189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97628" y="24816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Rating 4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597628" y="2972038"/>
            <a:ext cx="42389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48K bookings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185213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43230" y="2957036"/>
            <a:ext cx="318968" cy="3189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97628" y="49341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Rating 5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597628" y="5424607"/>
            <a:ext cx="42389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41K bookings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185213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43230" y="4993005"/>
            <a:ext cx="318968" cy="31896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93790" y="667226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Insight: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A significant majority of customers consistently provide ratings of 4 or 5, underscoring widespread positive ride experiences and satisfaction with Uber's service.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7498"/>
            <a:ext cx="1007018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Driver Dashboard: Performance &amp; Efficiency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1958102"/>
            <a:ext cx="13042821" cy="4352925"/>
          </a:xfrm>
          <a:prstGeom prst="roundRect">
            <a:avLst>
              <a:gd name="adj" fmla="val 4690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1965722"/>
            <a:ext cx="6513790" cy="2168843"/>
          </a:xfrm>
          <a:prstGeom prst="roundRect">
            <a:avLst>
              <a:gd name="adj" fmla="val 9413"/>
            </a:avLst>
          </a:prstGeom>
          <a:solidFill>
            <a:srgbClr val="EFF0F6"/>
          </a:solidFill>
          <a:ln/>
        </p:spPr>
      </p:sp>
      <p:sp>
        <p:nvSpPr>
          <p:cNvPr id="5" name="Text 3"/>
          <p:cNvSpPr/>
          <p:nvPr/>
        </p:nvSpPr>
        <p:spPr>
          <a:xfrm>
            <a:off x="1028224" y="21925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Avg. VTAT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2682954"/>
            <a:ext cx="572000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8.46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28224" y="3181945"/>
            <a:ext cx="572000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Average Vehicle Turnaround Time, a key metric for driver efficiency.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315200" y="1965722"/>
            <a:ext cx="6513790" cy="2168843"/>
          </a:xfrm>
          <a:prstGeom prst="rect">
            <a:avLst/>
          </a:prstGeom>
          <a:solidFill>
            <a:srgbClr val="EFF0F6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1965722"/>
            <a:ext cx="30480" cy="2168843"/>
          </a:xfrm>
          <a:prstGeom prst="roundRect">
            <a:avLst>
              <a:gd name="adj" fmla="val 669768"/>
            </a:avLst>
          </a:prstGeom>
          <a:solidFill>
            <a:srgbClr val="C5C7D2"/>
          </a:solidFill>
          <a:ln/>
        </p:spPr>
      </p:sp>
      <p:sp>
        <p:nvSpPr>
          <p:cNvPr id="10" name="Text 8"/>
          <p:cNvSpPr/>
          <p:nvPr/>
        </p:nvSpPr>
        <p:spPr>
          <a:xfrm>
            <a:off x="7882176" y="2192536"/>
            <a:ext cx="34755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Driver Cancellation Rate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882176" y="2682954"/>
            <a:ext cx="572000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0.18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882176" y="3181945"/>
            <a:ext cx="572000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Percentage of rides drivers cancel, warranting closer examination.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031712" y="2766655"/>
            <a:ext cx="566976" cy="566976"/>
          </a:xfrm>
          <a:prstGeom prst="roundRect">
            <a:avLst>
              <a:gd name="adj" fmla="val 36006"/>
            </a:avLst>
          </a:prstGeom>
          <a:solidFill>
            <a:srgbClr val="FFFFFF"/>
          </a:solidFill>
          <a:ln w="30480">
            <a:solidFill>
              <a:srgbClr val="C5C7D2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3397" y="2908340"/>
            <a:ext cx="283488" cy="283488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01410" y="4134564"/>
            <a:ext cx="6513790" cy="2168843"/>
          </a:xfrm>
          <a:prstGeom prst="rect">
            <a:avLst/>
          </a:prstGeom>
          <a:solidFill>
            <a:srgbClr val="EFF0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01410" y="4134564"/>
            <a:ext cx="6513790" cy="30480"/>
          </a:xfrm>
          <a:prstGeom prst="roundRect">
            <a:avLst>
              <a:gd name="adj" fmla="val 669768"/>
            </a:avLst>
          </a:prstGeom>
          <a:solidFill>
            <a:srgbClr val="C5C7D2"/>
          </a:solidFill>
          <a:ln/>
        </p:spPr>
      </p:sp>
      <p:sp>
        <p:nvSpPr>
          <p:cNvPr id="17" name="Text 14"/>
          <p:cNvSpPr/>
          <p:nvPr/>
        </p:nvSpPr>
        <p:spPr>
          <a:xfrm>
            <a:off x="1028224" y="43613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Avg. Driver Rating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028224" y="4851797"/>
            <a:ext cx="572000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4.11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1028224" y="5350788"/>
            <a:ext cx="572000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Reflects overall customer perception of driver service quality.</a:t>
            </a:r>
            <a:endParaRPr lang="en-US" sz="1750" dirty="0"/>
          </a:p>
        </p:txBody>
      </p:sp>
      <p:sp>
        <p:nvSpPr>
          <p:cNvPr id="20" name="Shape 17"/>
          <p:cNvSpPr/>
          <p:nvPr/>
        </p:nvSpPr>
        <p:spPr>
          <a:xfrm>
            <a:off x="7315200" y="4134564"/>
            <a:ext cx="6513790" cy="2168843"/>
          </a:xfrm>
          <a:prstGeom prst="rect">
            <a:avLst/>
          </a:prstGeom>
          <a:solidFill>
            <a:srgbClr val="EFF0F6"/>
          </a:solidFill>
          <a:ln/>
        </p:spPr>
      </p:sp>
      <p:sp>
        <p:nvSpPr>
          <p:cNvPr id="21" name="Shape 18"/>
          <p:cNvSpPr/>
          <p:nvPr/>
        </p:nvSpPr>
        <p:spPr>
          <a:xfrm>
            <a:off x="7315200" y="4134564"/>
            <a:ext cx="30480" cy="2168843"/>
          </a:xfrm>
          <a:prstGeom prst="roundRect">
            <a:avLst>
              <a:gd name="adj" fmla="val 669768"/>
            </a:avLst>
          </a:prstGeom>
          <a:solidFill>
            <a:srgbClr val="C5C7D2"/>
          </a:solidFill>
          <a:ln/>
        </p:spPr>
      </p:sp>
      <p:sp>
        <p:nvSpPr>
          <p:cNvPr id="22" name="Shape 19"/>
          <p:cNvSpPr/>
          <p:nvPr/>
        </p:nvSpPr>
        <p:spPr>
          <a:xfrm>
            <a:off x="7315200" y="4134564"/>
            <a:ext cx="6513790" cy="30480"/>
          </a:xfrm>
          <a:prstGeom prst="roundRect">
            <a:avLst>
              <a:gd name="adj" fmla="val 669768"/>
            </a:avLst>
          </a:prstGeom>
          <a:solidFill>
            <a:srgbClr val="C5C7D2"/>
          </a:solidFill>
          <a:ln/>
        </p:spPr>
      </p:sp>
      <p:sp>
        <p:nvSpPr>
          <p:cNvPr id="23" name="Text 20"/>
          <p:cNvSpPr/>
          <p:nvPr/>
        </p:nvSpPr>
        <p:spPr>
          <a:xfrm>
            <a:off x="7882176" y="43613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Avg. Ride Distance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882176" y="4851797"/>
            <a:ext cx="572000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24.34</a:t>
            </a:r>
            <a:endParaRPr lang="en-US" sz="1750" dirty="0"/>
          </a:p>
        </p:txBody>
      </p:sp>
      <p:sp>
        <p:nvSpPr>
          <p:cNvPr id="25" name="Text 22"/>
          <p:cNvSpPr/>
          <p:nvPr/>
        </p:nvSpPr>
        <p:spPr>
          <a:xfrm>
            <a:off x="7882176" y="5350788"/>
            <a:ext cx="572000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Average kilometers covered per ride, indicating typical trip lengths.</a:t>
            </a:r>
            <a:endParaRPr lang="en-US" sz="1750" dirty="0"/>
          </a:p>
        </p:txBody>
      </p:sp>
      <p:sp>
        <p:nvSpPr>
          <p:cNvPr id="26" name="Shape 23"/>
          <p:cNvSpPr/>
          <p:nvPr/>
        </p:nvSpPr>
        <p:spPr>
          <a:xfrm>
            <a:off x="7031712" y="4935498"/>
            <a:ext cx="566976" cy="566976"/>
          </a:xfrm>
          <a:prstGeom prst="roundRect">
            <a:avLst>
              <a:gd name="adj" fmla="val 36006"/>
            </a:avLst>
          </a:prstGeom>
          <a:solidFill>
            <a:srgbClr val="FFFFFF"/>
          </a:solidFill>
          <a:ln w="30480">
            <a:solidFill>
              <a:srgbClr val="C5C7D2"/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73397" y="5077182"/>
            <a:ext cx="283488" cy="28348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93790" y="656617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Insight: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While average driver ratings remain strong, the driver cancellation rate presents a critical area for monitoring and targeted intervention to maintain service reliability.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52036" y="380167"/>
            <a:ext cx="7749421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Optimizing Driver Performance &amp; Customer Experience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952036" y="1069896"/>
            <a:ext cx="2290286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Bookings by Driver Rating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952036" y="1423273"/>
            <a:ext cx="4194929" cy="22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Rating 3:</a:t>
            </a: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7K bookings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952036" y="1692235"/>
            <a:ext cx="4194929" cy="22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Rating 4:</a:t>
            </a: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63K bookings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952036" y="1961198"/>
            <a:ext cx="4194929" cy="22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Rating 5:</a:t>
            </a: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23K bookings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952036" y="2306003"/>
            <a:ext cx="4194929" cy="441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Drivers rated 4 are the backbone of booking fulfillment, underscoring the importance of their consistent performance.</a:t>
            </a:r>
            <a:endParaRPr lang="en-US" sz="10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036" y="2902625"/>
            <a:ext cx="4194929" cy="41949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1055" y="1069896"/>
            <a:ext cx="2444234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Driver Cancellation Reasons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491055" y="1423273"/>
            <a:ext cx="4194929" cy="22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Customer related issues</a:t>
            </a: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– 6.8K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491055" y="1692235"/>
            <a:ext cx="4194929" cy="22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Customer coughing/sick</a:t>
            </a: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– 6.8K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491055" y="1961198"/>
            <a:ext cx="4194929" cy="22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Personal &amp; car related issues</a:t>
            </a: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– 6.7K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491055" y="2230160"/>
            <a:ext cx="4194929" cy="22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Too many passengers</a:t>
            </a: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– 6.7K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491055" y="2574965"/>
            <a:ext cx="4194929" cy="662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Understanding these reasons can lead to proactive measures to reduce driver-initiated cancellations and improve the overall ride ecosystem.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952036" y="7407831"/>
            <a:ext cx="8726329" cy="441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Insight:</a:t>
            </a: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The majority of bookings are successfully facilitated by drivers with a 4-star rating, while health and passenger-related issues emerge as primary drivers for driver cancellations.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864</Words>
  <Application>Microsoft Office PowerPoint</Application>
  <PresentationFormat>Custom</PresentationFormat>
  <Paragraphs>138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Inter Light</vt:lpstr>
      <vt:lpstr>Montserrat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Gourav Attri</cp:lastModifiedBy>
  <cp:revision>2</cp:revision>
  <dcterms:created xsi:type="dcterms:W3CDTF">2026-01-09T16:55:31Z</dcterms:created>
  <dcterms:modified xsi:type="dcterms:W3CDTF">2026-01-10T08:45:43Z</dcterms:modified>
</cp:coreProperties>
</file>